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1"/>
    <p:restoredTop sz="94653"/>
  </p:normalViewPr>
  <p:slideViewPr>
    <p:cSldViewPr snapToGrid="0" snapToObjects="1">
      <p:cViewPr varScale="1">
        <p:scale>
          <a:sx n="113" d="100"/>
          <a:sy n="113" d="100"/>
        </p:scale>
        <p:origin x="16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E52A01-85F4-4DF2-BBDC-6876FAC4E218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1975DE-4109-414B-ADFE-2A1108C3ECDE}">
      <dgm:prSet/>
      <dgm:spPr/>
      <dgm:t>
        <a:bodyPr/>
        <a:lstStyle/>
        <a:p>
          <a:r>
            <a:rPr lang="en-US" dirty="0"/>
            <a:t>Across all ages, </a:t>
          </a:r>
          <a:r>
            <a:rPr lang="en-US" b="1" dirty="0"/>
            <a:t>upper-body garments</a:t>
          </a:r>
          <a:r>
            <a:rPr lang="en-US" dirty="0"/>
            <a:t> dominate the universal wardrobe staple.</a:t>
          </a:r>
        </a:p>
      </dgm:t>
    </dgm:pt>
    <dgm:pt modelId="{985F2FA7-C347-431E-ACEA-B805BFEFBB0F}" type="parTrans" cxnId="{DCB0B440-48A7-4264-B059-856545C9A820}">
      <dgm:prSet/>
      <dgm:spPr/>
      <dgm:t>
        <a:bodyPr/>
        <a:lstStyle/>
        <a:p>
          <a:endParaRPr lang="en-US"/>
        </a:p>
      </dgm:t>
    </dgm:pt>
    <dgm:pt modelId="{AEE200F0-2F11-41E7-9FC2-E0F0024004A1}" type="sibTrans" cxnId="{DCB0B440-48A7-4264-B059-856545C9A820}">
      <dgm:prSet/>
      <dgm:spPr/>
      <dgm:t>
        <a:bodyPr/>
        <a:lstStyle/>
        <a:p>
          <a:endParaRPr lang="en-US"/>
        </a:p>
      </dgm:t>
    </dgm:pt>
    <dgm:pt modelId="{77DAA016-C040-4114-99D1-E96ED871F8EE}">
      <dgm:prSet/>
      <dgm:spPr/>
      <dgm:t>
        <a:bodyPr/>
        <a:lstStyle/>
        <a:p>
          <a:r>
            <a:rPr lang="en-US"/>
            <a:t>Ages </a:t>
          </a:r>
          <a:r>
            <a:rPr lang="en-US" b="1"/>
            <a:t>60+ lead the highest share</a:t>
          </a:r>
          <a:r>
            <a:rPr lang="en-US"/>
            <a:t> in classic categories like tops and bottoms</a:t>
          </a:r>
        </a:p>
      </dgm:t>
    </dgm:pt>
    <dgm:pt modelId="{66F5C55B-F242-4444-B13E-5A0040F5082E}" type="parTrans" cxnId="{3AC03BCA-6506-45E9-8A73-C98E0A0A5B78}">
      <dgm:prSet/>
      <dgm:spPr/>
      <dgm:t>
        <a:bodyPr/>
        <a:lstStyle/>
        <a:p>
          <a:endParaRPr lang="en-US"/>
        </a:p>
      </dgm:t>
    </dgm:pt>
    <dgm:pt modelId="{63B31D11-1845-4D88-9ECA-2DBF13A5662F}" type="sibTrans" cxnId="{3AC03BCA-6506-45E9-8A73-C98E0A0A5B78}">
      <dgm:prSet/>
      <dgm:spPr/>
      <dgm:t>
        <a:bodyPr/>
        <a:lstStyle/>
        <a:p>
          <a:endParaRPr lang="en-US"/>
        </a:p>
      </dgm:t>
    </dgm:pt>
    <dgm:pt modelId="{73592F30-3792-4467-8F6A-179A7FC757B5}">
      <dgm:prSet/>
      <dgm:spPr/>
      <dgm:t>
        <a:bodyPr/>
        <a:lstStyle/>
        <a:p>
          <a:r>
            <a:rPr lang="en-US"/>
            <a:t>Younger groups (10–29) show more interest in trendier Swimwear &amp; Accessories.</a:t>
          </a:r>
        </a:p>
      </dgm:t>
    </dgm:pt>
    <dgm:pt modelId="{CBA25F82-C400-4FC3-B80A-C6E215BF1AB2}" type="parTrans" cxnId="{6DB8E3D0-F2A5-497D-A21C-3D16CF1A3336}">
      <dgm:prSet/>
      <dgm:spPr/>
      <dgm:t>
        <a:bodyPr/>
        <a:lstStyle/>
        <a:p>
          <a:endParaRPr lang="en-US"/>
        </a:p>
      </dgm:t>
    </dgm:pt>
    <dgm:pt modelId="{2D8C529F-B811-4026-ABAC-DA8EB2C2E088}" type="sibTrans" cxnId="{6DB8E3D0-F2A5-497D-A21C-3D16CF1A3336}">
      <dgm:prSet/>
      <dgm:spPr/>
      <dgm:t>
        <a:bodyPr/>
        <a:lstStyle/>
        <a:p>
          <a:endParaRPr lang="en-US"/>
        </a:p>
      </dgm:t>
    </dgm:pt>
    <dgm:pt modelId="{8E65FAD3-5962-4DE5-A02B-95E4FC34BA90}">
      <dgm:prSet/>
      <dgm:spPr/>
      <dgm:t>
        <a:bodyPr/>
        <a:lstStyle/>
        <a:p>
          <a:r>
            <a:rPr lang="en-US"/>
            <a:t>Category preferences are surprisingly stable across ages.</a:t>
          </a:r>
        </a:p>
      </dgm:t>
    </dgm:pt>
    <dgm:pt modelId="{0C91F10A-937C-404D-8D2D-F64C1AE648C9}" type="parTrans" cxnId="{1A5E98E8-F05F-4D16-AF75-D965D180B145}">
      <dgm:prSet/>
      <dgm:spPr/>
      <dgm:t>
        <a:bodyPr/>
        <a:lstStyle/>
        <a:p>
          <a:endParaRPr lang="en-US"/>
        </a:p>
      </dgm:t>
    </dgm:pt>
    <dgm:pt modelId="{5248C5B4-4273-46A9-A31A-28FFBB60238B}" type="sibTrans" cxnId="{1A5E98E8-F05F-4D16-AF75-D965D180B145}">
      <dgm:prSet/>
      <dgm:spPr/>
      <dgm:t>
        <a:bodyPr/>
        <a:lstStyle/>
        <a:p>
          <a:endParaRPr lang="en-US"/>
        </a:p>
      </dgm:t>
    </dgm:pt>
    <dgm:pt modelId="{E95A44BE-AF71-FB49-93FA-3881E999B3E6}" type="pres">
      <dgm:prSet presAssocID="{85E52A01-85F4-4DF2-BBDC-6876FAC4E218}" presName="diagram" presStyleCnt="0">
        <dgm:presLayoutVars>
          <dgm:dir/>
          <dgm:resizeHandles val="exact"/>
        </dgm:presLayoutVars>
      </dgm:prSet>
      <dgm:spPr/>
    </dgm:pt>
    <dgm:pt modelId="{E4B26EEF-2D69-A44B-AE6D-B8B2CF6DC274}" type="pres">
      <dgm:prSet presAssocID="{FF1975DE-4109-414B-ADFE-2A1108C3ECDE}" presName="arrow" presStyleLbl="node1" presStyleIdx="0" presStyleCnt="4">
        <dgm:presLayoutVars>
          <dgm:bulletEnabled val="1"/>
        </dgm:presLayoutVars>
      </dgm:prSet>
      <dgm:spPr/>
    </dgm:pt>
    <dgm:pt modelId="{EA1D036C-11E4-8A4D-9E42-C0333828396F}" type="pres">
      <dgm:prSet presAssocID="{77DAA016-C040-4114-99D1-E96ED871F8EE}" presName="arrow" presStyleLbl="node1" presStyleIdx="1" presStyleCnt="4">
        <dgm:presLayoutVars>
          <dgm:bulletEnabled val="1"/>
        </dgm:presLayoutVars>
      </dgm:prSet>
      <dgm:spPr/>
    </dgm:pt>
    <dgm:pt modelId="{C7B362F7-3E47-2C43-B76B-9A6E4F8BBCB2}" type="pres">
      <dgm:prSet presAssocID="{73592F30-3792-4467-8F6A-179A7FC757B5}" presName="arrow" presStyleLbl="node1" presStyleIdx="2" presStyleCnt="4">
        <dgm:presLayoutVars>
          <dgm:bulletEnabled val="1"/>
        </dgm:presLayoutVars>
      </dgm:prSet>
      <dgm:spPr/>
    </dgm:pt>
    <dgm:pt modelId="{BEEF8F77-15E6-704A-B992-AD861330C145}" type="pres">
      <dgm:prSet presAssocID="{8E65FAD3-5962-4DE5-A02B-95E4FC34BA90}" presName="arrow" presStyleLbl="node1" presStyleIdx="3" presStyleCnt="4">
        <dgm:presLayoutVars>
          <dgm:bulletEnabled val="1"/>
        </dgm:presLayoutVars>
      </dgm:prSet>
      <dgm:spPr/>
    </dgm:pt>
  </dgm:ptLst>
  <dgm:cxnLst>
    <dgm:cxn modelId="{C73E973E-718B-7F4E-A8E6-D7E79BCE3D40}" type="presOf" srcId="{8E65FAD3-5962-4DE5-A02B-95E4FC34BA90}" destId="{BEEF8F77-15E6-704A-B992-AD861330C145}" srcOrd="0" destOrd="0" presId="urn:microsoft.com/office/officeart/2005/8/layout/arrow5"/>
    <dgm:cxn modelId="{DCB0B440-48A7-4264-B059-856545C9A820}" srcId="{85E52A01-85F4-4DF2-BBDC-6876FAC4E218}" destId="{FF1975DE-4109-414B-ADFE-2A1108C3ECDE}" srcOrd="0" destOrd="0" parTransId="{985F2FA7-C347-431E-ACEA-B805BFEFBB0F}" sibTransId="{AEE200F0-2F11-41E7-9FC2-E0F0024004A1}"/>
    <dgm:cxn modelId="{2066136C-A54F-4746-8020-FE945B791908}" type="presOf" srcId="{77DAA016-C040-4114-99D1-E96ED871F8EE}" destId="{EA1D036C-11E4-8A4D-9E42-C0333828396F}" srcOrd="0" destOrd="0" presId="urn:microsoft.com/office/officeart/2005/8/layout/arrow5"/>
    <dgm:cxn modelId="{9B0EBA6C-6D21-E848-BE5F-11C3BAD030A7}" type="presOf" srcId="{85E52A01-85F4-4DF2-BBDC-6876FAC4E218}" destId="{E95A44BE-AF71-FB49-93FA-3881E999B3E6}" srcOrd="0" destOrd="0" presId="urn:microsoft.com/office/officeart/2005/8/layout/arrow5"/>
    <dgm:cxn modelId="{CBB106A6-FB20-834E-B98D-1EFD11E227B0}" type="presOf" srcId="{FF1975DE-4109-414B-ADFE-2A1108C3ECDE}" destId="{E4B26EEF-2D69-A44B-AE6D-B8B2CF6DC274}" srcOrd="0" destOrd="0" presId="urn:microsoft.com/office/officeart/2005/8/layout/arrow5"/>
    <dgm:cxn modelId="{3AC03BCA-6506-45E9-8A73-C98E0A0A5B78}" srcId="{85E52A01-85F4-4DF2-BBDC-6876FAC4E218}" destId="{77DAA016-C040-4114-99D1-E96ED871F8EE}" srcOrd="1" destOrd="0" parTransId="{66F5C55B-F242-4444-B13E-5A0040F5082E}" sibTransId="{63B31D11-1845-4D88-9ECA-2DBF13A5662F}"/>
    <dgm:cxn modelId="{6DB8E3D0-F2A5-497D-A21C-3D16CF1A3336}" srcId="{85E52A01-85F4-4DF2-BBDC-6876FAC4E218}" destId="{73592F30-3792-4467-8F6A-179A7FC757B5}" srcOrd="2" destOrd="0" parTransId="{CBA25F82-C400-4FC3-B80A-C6E215BF1AB2}" sibTransId="{2D8C529F-B811-4026-ABAC-DA8EB2C2E088}"/>
    <dgm:cxn modelId="{1A5E98E8-F05F-4D16-AF75-D965D180B145}" srcId="{85E52A01-85F4-4DF2-BBDC-6876FAC4E218}" destId="{8E65FAD3-5962-4DE5-A02B-95E4FC34BA90}" srcOrd="3" destOrd="0" parTransId="{0C91F10A-937C-404D-8D2D-F64C1AE648C9}" sibTransId="{5248C5B4-4273-46A9-A31A-28FFBB60238B}"/>
    <dgm:cxn modelId="{07D1ECF6-6B6A-B44A-B0DC-ABAB1ADED686}" type="presOf" srcId="{73592F30-3792-4467-8F6A-179A7FC757B5}" destId="{C7B362F7-3E47-2C43-B76B-9A6E4F8BBCB2}" srcOrd="0" destOrd="0" presId="urn:microsoft.com/office/officeart/2005/8/layout/arrow5"/>
    <dgm:cxn modelId="{1DC1CB3B-07ED-D148-9A26-11E84851135C}" type="presParOf" srcId="{E95A44BE-AF71-FB49-93FA-3881E999B3E6}" destId="{E4B26EEF-2D69-A44B-AE6D-B8B2CF6DC274}" srcOrd="0" destOrd="0" presId="urn:microsoft.com/office/officeart/2005/8/layout/arrow5"/>
    <dgm:cxn modelId="{D7E77E14-32B7-644A-B9D0-C8E4F2C975A2}" type="presParOf" srcId="{E95A44BE-AF71-FB49-93FA-3881E999B3E6}" destId="{EA1D036C-11E4-8A4D-9E42-C0333828396F}" srcOrd="1" destOrd="0" presId="urn:microsoft.com/office/officeart/2005/8/layout/arrow5"/>
    <dgm:cxn modelId="{3F8DA6D0-7FB8-B944-9341-36E2F7941CF8}" type="presParOf" srcId="{E95A44BE-AF71-FB49-93FA-3881E999B3E6}" destId="{C7B362F7-3E47-2C43-B76B-9A6E4F8BBCB2}" srcOrd="2" destOrd="0" presId="urn:microsoft.com/office/officeart/2005/8/layout/arrow5"/>
    <dgm:cxn modelId="{2C5B14F7-A8A8-4543-B968-74AEB97BA90D}" type="presParOf" srcId="{E95A44BE-AF71-FB49-93FA-3881E999B3E6}" destId="{BEEF8F77-15E6-704A-B992-AD861330C145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CC0EC4-E3C1-4D1D-9B99-313C9712B59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23A759-4DDF-47EB-A5DF-EEE5D390DCFE}">
      <dgm:prSet/>
      <dgm:spPr/>
      <dgm:t>
        <a:bodyPr/>
        <a:lstStyle/>
        <a:p>
          <a:r>
            <a:rPr lang="en-US" dirty="0"/>
            <a:t>All age groups spend within </a:t>
          </a:r>
          <a:r>
            <a:rPr lang="en-US" b="1" dirty="0"/>
            <a:t>nearly the same price range</a:t>
          </a:r>
          <a:r>
            <a:rPr lang="en-US" dirty="0"/>
            <a:t>  spending is stable.</a:t>
          </a:r>
        </a:p>
      </dgm:t>
    </dgm:pt>
    <dgm:pt modelId="{F3ED664A-1F25-4894-826E-75A985BDACC6}" type="parTrans" cxnId="{5E3F1910-9E0B-4462-915C-02F2800745FE}">
      <dgm:prSet/>
      <dgm:spPr/>
      <dgm:t>
        <a:bodyPr/>
        <a:lstStyle/>
        <a:p>
          <a:endParaRPr lang="en-US"/>
        </a:p>
      </dgm:t>
    </dgm:pt>
    <dgm:pt modelId="{5DB3D293-5D51-42CA-A32C-D430E81CDF80}" type="sibTrans" cxnId="{5E3F1910-9E0B-4462-915C-02F2800745FE}">
      <dgm:prSet/>
      <dgm:spPr/>
      <dgm:t>
        <a:bodyPr/>
        <a:lstStyle/>
        <a:p>
          <a:endParaRPr lang="en-US"/>
        </a:p>
      </dgm:t>
    </dgm:pt>
    <dgm:pt modelId="{FAB809EA-879D-4E3A-BEC5-5A9FA64EC2E0}">
      <dgm:prSet/>
      <dgm:spPr/>
      <dgm:t>
        <a:bodyPr/>
        <a:lstStyle/>
        <a:p>
          <a:r>
            <a:rPr lang="en-US"/>
            <a:t>Ages </a:t>
          </a:r>
          <a:r>
            <a:rPr lang="en-US" b="1"/>
            <a:t>30–49 show slightly higher median prices</a:t>
          </a:r>
          <a:r>
            <a:rPr lang="en-US"/>
            <a:t>, but not dramatically.</a:t>
          </a:r>
        </a:p>
      </dgm:t>
    </dgm:pt>
    <dgm:pt modelId="{03D60662-EB3E-47A7-BB25-E4C6AD77885F}" type="parTrans" cxnId="{9DCBCDAC-50D6-481B-AB64-C7DB989D5D10}">
      <dgm:prSet/>
      <dgm:spPr/>
      <dgm:t>
        <a:bodyPr/>
        <a:lstStyle/>
        <a:p>
          <a:endParaRPr lang="en-US"/>
        </a:p>
      </dgm:t>
    </dgm:pt>
    <dgm:pt modelId="{6D4EA77E-5042-46C8-B8A7-8DA8CFCBE9A2}" type="sibTrans" cxnId="{9DCBCDAC-50D6-481B-AB64-C7DB989D5D10}">
      <dgm:prSet/>
      <dgm:spPr/>
      <dgm:t>
        <a:bodyPr/>
        <a:lstStyle/>
        <a:p>
          <a:endParaRPr lang="en-US"/>
        </a:p>
      </dgm:t>
    </dgm:pt>
    <dgm:pt modelId="{E182DC79-6CF1-4C3D-B8DF-CF63878DB9B0}">
      <dgm:prSet/>
      <dgm:spPr/>
      <dgm:t>
        <a:bodyPr/>
        <a:lstStyle/>
        <a:p>
          <a:r>
            <a:rPr lang="en-US" b="1" dirty="0"/>
            <a:t>Category</a:t>
          </a:r>
          <a:r>
            <a:rPr lang="en-US" dirty="0"/>
            <a:t>, not age, drives price differences. Shoes remain the most expensive.</a:t>
          </a:r>
        </a:p>
      </dgm:t>
    </dgm:pt>
    <dgm:pt modelId="{59490F8D-A3B8-4657-B42B-A3DD4B1EE108}" type="parTrans" cxnId="{349B60ED-5C89-44B4-B6EB-EFD360077FAC}">
      <dgm:prSet/>
      <dgm:spPr/>
      <dgm:t>
        <a:bodyPr/>
        <a:lstStyle/>
        <a:p>
          <a:endParaRPr lang="en-US"/>
        </a:p>
      </dgm:t>
    </dgm:pt>
    <dgm:pt modelId="{21F653DB-D71E-4836-AC16-050FF84A72EB}" type="sibTrans" cxnId="{349B60ED-5C89-44B4-B6EB-EFD360077FAC}">
      <dgm:prSet/>
      <dgm:spPr/>
      <dgm:t>
        <a:bodyPr/>
        <a:lstStyle/>
        <a:p>
          <a:endParaRPr lang="en-US"/>
        </a:p>
      </dgm:t>
    </dgm:pt>
    <dgm:pt modelId="{B1CAA31E-BEFC-47E2-B021-D8E582A04B59}">
      <dgm:prSet/>
      <dgm:spPr/>
      <dgm:t>
        <a:bodyPr/>
        <a:lstStyle/>
        <a:p>
          <a:r>
            <a:rPr lang="en-US"/>
            <a:t>Fashion pricing appears </a:t>
          </a:r>
          <a:r>
            <a:rPr lang="en-US" b="1"/>
            <a:t>demographically inclusive</a:t>
          </a:r>
          <a:r>
            <a:rPr lang="en-US"/>
            <a:t> across the customer base.</a:t>
          </a:r>
        </a:p>
      </dgm:t>
    </dgm:pt>
    <dgm:pt modelId="{C668BD13-EDF6-4683-9AF2-52C241E188C7}" type="parTrans" cxnId="{C6D68183-EB10-45A3-A07E-FFC69A320CCE}">
      <dgm:prSet/>
      <dgm:spPr/>
      <dgm:t>
        <a:bodyPr/>
        <a:lstStyle/>
        <a:p>
          <a:endParaRPr lang="en-US"/>
        </a:p>
      </dgm:t>
    </dgm:pt>
    <dgm:pt modelId="{C049A6EC-16FA-41DA-9723-44545B06442B}" type="sibTrans" cxnId="{C6D68183-EB10-45A3-A07E-FFC69A320CCE}">
      <dgm:prSet/>
      <dgm:spPr/>
      <dgm:t>
        <a:bodyPr/>
        <a:lstStyle/>
        <a:p>
          <a:endParaRPr lang="en-US"/>
        </a:p>
      </dgm:t>
    </dgm:pt>
    <dgm:pt modelId="{2B6208E2-2045-094F-AB2C-D79EA23DB6EB}" type="pres">
      <dgm:prSet presAssocID="{6ECC0EC4-E3C1-4D1D-9B99-313C9712B594}" presName="matrix" presStyleCnt="0">
        <dgm:presLayoutVars>
          <dgm:chMax val="1"/>
          <dgm:dir/>
          <dgm:resizeHandles val="exact"/>
        </dgm:presLayoutVars>
      </dgm:prSet>
      <dgm:spPr/>
    </dgm:pt>
    <dgm:pt modelId="{6AC143AD-0358-B244-89EC-E6C7B290408B}" type="pres">
      <dgm:prSet presAssocID="{6ECC0EC4-E3C1-4D1D-9B99-313C9712B594}" presName="diamond" presStyleLbl="bgShp" presStyleIdx="0" presStyleCnt="1" custLinFactNeighborY="-36"/>
      <dgm:spPr/>
    </dgm:pt>
    <dgm:pt modelId="{BD34F9C0-3AE8-234C-8175-08D0D19B6A9D}" type="pres">
      <dgm:prSet presAssocID="{6ECC0EC4-E3C1-4D1D-9B99-313C9712B59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F45505C-C568-1241-B8A2-BAFF6ACBFE38}" type="pres">
      <dgm:prSet presAssocID="{6ECC0EC4-E3C1-4D1D-9B99-313C9712B59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677FC28-1B41-C442-97A4-506045DD7C57}" type="pres">
      <dgm:prSet presAssocID="{6ECC0EC4-E3C1-4D1D-9B99-313C9712B59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D78F787-EF84-0E48-B178-715D618AFD22}" type="pres">
      <dgm:prSet presAssocID="{6ECC0EC4-E3C1-4D1D-9B99-313C9712B59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F367D05-5EC7-1649-B33D-40F229A6BFC3}" type="presOf" srcId="{B1CAA31E-BEFC-47E2-B021-D8E582A04B59}" destId="{CD78F787-EF84-0E48-B178-715D618AFD22}" srcOrd="0" destOrd="0" presId="urn:microsoft.com/office/officeart/2005/8/layout/matrix3"/>
    <dgm:cxn modelId="{5E3F1910-9E0B-4462-915C-02F2800745FE}" srcId="{6ECC0EC4-E3C1-4D1D-9B99-313C9712B594}" destId="{9423A759-4DDF-47EB-A5DF-EEE5D390DCFE}" srcOrd="0" destOrd="0" parTransId="{F3ED664A-1F25-4894-826E-75A985BDACC6}" sibTransId="{5DB3D293-5D51-42CA-A32C-D430E81CDF80}"/>
    <dgm:cxn modelId="{05899568-2D74-1B42-9042-C3E1DF6D7F0C}" type="presOf" srcId="{FAB809EA-879D-4E3A-BEC5-5A9FA64EC2E0}" destId="{7F45505C-C568-1241-B8A2-BAFF6ACBFE38}" srcOrd="0" destOrd="0" presId="urn:microsoft.com/office/officeart/2005/8/layout/matrix3"/>
    <dgm:cxn modelId="{DE329169-F479-254D-AEAE-E175F85BFA8B}" type="presOf" srcId="{E182DC79-6CF1-4C3D-B8DF-CF63878DB9B0}" destId="{0677FC28-1B41-C442-97A4-506045DD7C57}" srcOrd="0" destOrd="0" presId="urn:microsoft.com/office/officeart/2005/8/layout/matrix3"/>
    <dgm:cxn modelId="{75742675-75B8-A34E-9B77-1ACD08AD8DBA}" type="presOf" srcId="{9423A759-4DDF-47EB-A5DF-EEE5D390DCFE}" destId="{BD34F9C0-3AE8-234C-8175-08D0D19B6A9D}" srcOrd="0" destOrd="0" presId="urn:microsoft.com/office/officeart/2005/8/layout/matrix3"/>
    <dgm:cxn modelId="{C6D68183-EB10-45A3-A07E-FFC69A320CCE}" srcId="{6ECC0EC4-E3C1-4D1D-9B99-313C9712B594}" destId="{B1CAA31E-BEFC-47E2-B021-D8E582A04B59}" srcOrd="3" destOrd="0" parTransId="{C668BD13-EDF6-4683-9AF2-52C241E188C7}" sibTransId="{C049A6EC-16FA-41DA-9723-44545B06442B}"/>
    <dgm:cxn modelId="{9DCBCDAC-50D6-481B-AB64-C7DB989D5D10}" srcId="{6ECC0EC4-E3C1-4D1D-9B99-313C9712B594}" destId="{FAB809EA-879D-4E3A-BEC5-5A9FA64EC2E0}" srcOrd="1" destOrd="0" parTransId="{03D60662-EB3E-47A7-BB25-E4C6AD77885F}" sibTransId="{6D4EA77E-5042-46C8-B8A7-8DA8CFCBE9A2}"/>
    <dgm:cxn modelId="{A5F170C8-A8C5-B84C-87AB-B0D5E664631C}" type="presOf" srcId="{6ECC0EC4-E3C1-4D1D-9B99-313C9712B594}" destId="{2B6208E2-2045-094F-AB2C-D79EA23DB6EB}" srcOrd="0" destOrd="0" presId="urn:microsoft.com/office/officeart/2005/8/layout/matrix3"/>
    <dgm:cxn modelId="{349B60ED-5C89-44B4-B6EB-EFD360077FAC}" srcId="{6ECC0EC4-E3C1-4D1D-9B99-313C9712B594}" destId="{E182DC79-6CF1-4C3D-B8DF-CF63878DB9B0}" srcOrd="2" destOrd="0" parTransId="{59490F8D-A3B8-4657-B42B-A3DD4B1EE108}" sibTransId="{21F653DB-D71E-4836-AC16-050FF84A72EB}"/>
    <dgm:cxn modelId="{EE9DDB6F-521A-1E46-A552-253053C9561D}" type="presParOf" srcId="{2B6208E2-2045-094F-AB2C-D79EA23DB6EB}" destId="{6AC143AD-0358-B244-89EC-E6C7B290408B}" srcOrd="0" destOrd="0" presId="urn:microsoft.com/office/officeart/2005/8/layout/matrix3"/>
    <dgm:cxn modelId="{CA561A2B-741A-4245-A941-3839F8270680}" type="presParOf" srcId="{2B6208E2-2045-094F-AB2C-D79EA23DB6EB}" destId="{BD34F9C0-3AE8-234C-8175-08D0D19B6A9D}" srcOrd="1" destOrd="0" presId="urn:microsoft.com/office/officeart/2005/8/layout/matrix3"/>
    <dgm:cxn modelId="{F9E81BD5-8445-9D4F-9564-0C9EE43F30CC}" type="presParOf" srcId="{2B6208E2-2045-094F-AB2C-D79EA23DB6EB}" destId="{7F45505C-C568-1241-B8A2-BAFF6ACBFE38}" srcOrd="2" destOrd="0" presId="urn:microsoft.com/office/officeart/2005/8/layout/matrix3"/>
    <dgm:cxn modelId="{51BE27DC-C448-8A4C-B346-D4AB28445CE7}" type="presParOf" srcId="{2B6208E2-2045-094F-AB2C-D79EA23DB6EB}" destId="{0677FC28-1B41-C442-97A4-506045DD7C57}" srcOrd="3" destOrd="0" presId="urn:microsoft.com/office/officeart/2005/8/layout/matrix3"/>
    <dgm:cxn modelId="{F61443FD-E938-0341-8802-FCF6E7D9C674}" type="presParOf" srcId="{2B6208E2-2045-094F-AB2C-D79EA23DB6EB}" destId="{CD78F787-EF84-0E48-B178-715D618AFD2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26EEF-2D69-A44B-AE6D-B8B2CF6DC274}">
      <dsp:nvSpPr>
        <dsp:cNvPr id="0" name=""/>
        <dsp:cNvSpPr/>
      </dsp:nvSpPr>
      <dsp:spPr>
        <a:xfrm>
          <a:off x="1431540" y="802"/>
          <a:ext cx="1251719" cy="125171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Across all ages, </a:t>
          </a:r>
          <a:r>
            <a:rPr lang="en-US" sz="700" b="1" kern="1200" dirty="0"/>
            <a:t>upper-body garments</a:t>
          </a:r>
          <a:r>
            <a:rPr lang="en-US" sz="700" kern="1200" dirty="0"/>
            <a:t> dominate the universal wardrobe staple.</a:t>
          </a:r>
        </a:p>
      </dsp:txBody>
      <dsp:txXfrm>
        <a:off x="1744470" y="802"/>
        <a:ext cx="625859" cy="1032668"/>
      </dsp:txXfrm>
    </dsp:sp>
    <dsp:sp modelId="{EA1D036C-11E4-8A4D-9E42-C0333828396F}">
      <dsp:nvSpPr>
        <dsp:cNvPr id="0" name=""/>
        <dsp:cNvSpPr/>
      </dsp:nvSpPr>
      <dsp:spPr>
        <a:xfrm rot="5400000">
          <a:off x="2374538" y="943800"/>
          <a:ext cx="1251719" cy="125171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Ages </a:t>
          </a:r>
          <a:r>
            <a:rPr lang="en-US" sz="700" b="1" kern="1200"/>
            <a:t>60+ lead the highest share</a:t>
          </a:r>
          <a:r>
            <a:rPr lang="en-US" sz="700" kern="1200"/>
            <a:t> in classic categories like tops and bottoms</a:t>
          </a:r>
        </a:p>
      </dsp:txBody>
      <dsp:txXfrm rot="-5400000">
        <a:off x="2593590" y="1256730"/>
        <a:ext cx="1032668" cy="625859"/>
      </dsp:txXfrm>
    </dsp:sp>
    <dsp:sp modelId="{C7B362F7-3E47-2C43-B76B-9A6E4F8BBCB2}">
      <dsp:nvSpPr>
        <dsp:cNvPr id="0" name=""/>
        <dsp:cNvSpPr/>
      </dsp:nvSpPr>
      <dsp:spPr>
        <a:xfrm rot="10800000">
          <a:off x="1431540" y="1886798"/>
          <a:ext cx="1251719" cy="125171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Younger groups (10–29) show more interest in trendier Swimwear &amp; Accessories.</a:t>
          </a:r>
        </a:p>
      </dsp:txBody>
      <dsp:txXfrm rot="10800000">
        <a:off x="1744470" y="2105849"/>
        <a:ext cx="625859" cy="1032668"/>
      </dsp:txXfrm>
    </dsp:sp>
    <dsp:sp modelId="{BEEF8F77-15E6-704A-B992-AD861330C145}">
      <dsp:nvSpPr>
        <dsp:cNvPr id="0" name=""/>
        <dsp:cNvSpPr/>
      </dsp:nvSpPr>
      <dsp:spPr>
        <a:xfrm rot="16200000">
          <a:off x="488542" y="943800"/>
          <a:ext cx="1251719" cy="125171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84" tIns="49784" rIns="49784" bIns="49784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Category preferences are surprisingly stable across ages.</a:t>
          </a:r>
        </a:p>
      </dsp:txBody>
      <dsp:txXfrm rot="5400000">
        <a:off x="488543" y="1256730"/>
        <a:ext cx="1032668" cy="6258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143AD-0358-B244-89EC-E6C7B290408B}">
      <dsp:nvSpPr>
        <dsp:cNvPr id="0" name=""/>
        <dsp:cNvSpPr/>
      </dsp:nvSpPr>
      <dsp:spPr>
        <a:xfrm>
          <a:off x="524428" y="0"/>
          <a:ext cx="3139321" cy="313932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4F9C0-3AE8-234C-8175-08D0D19B6A9D}">
      <dsp:nvSpPr>
        <dsp:cNvPr id="0" name=""/>
        <dsp:cNvSpPr/>
      </dsp:nvSpPr>
      <dsp:spPr>
        <a:xfrm>
          <a:off x="822663" y="298235"/>
          <a:ext cx="1224335" cy="12243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All age groups spend within </a:t>
          </a:r>
          <a:r>
            <a:rPr lang="en-US" sz="1100" b="1" kern="1200" dirty="0"/>
            <a:t>nearly the same price range</a:t>
          </a:r>
          <a:r>
            <a:rPr lang="en-US" sz="1100" kern="1200" dirty="0"/>
            <a:t>  spending is stable.</a:t>
          </a:r>
        </a:p>
      </dsp:txBody>
      <dsp:txXfrm>
        <a:off x="882430" y="358002"/>
        <a:ext cx="1104801" cy="1104801"/>
      </dsp:txXfrm>
    </dsp:sp>
    <dsp:sp modelId="{7F45505C-C568-1241-B8A2-BAFF6ACBFE38}">
      <dsp:nvSpPr>
        <dsp:cNvPr id="0" name=""/>
        <dsp:cNvSpPr/>
      </dsp:nvSpPr>
      <dsp:spPr>
        <a:xfrm>
          <a:off x="2141178" y="298235"/>
          <a:ext cx="1224335" cy="12243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Ages </a:t>
          </a:r>
          <a:r>
            <a:rPr lang="en-US" sz="1100" b="1" kern="1200"/>
            <a:t>30–49 show slightly higher median prices</a:t>
          </a:r>
          <a:r>
            <a:rPr lang="en-US" sz="1100" kern="1200"/>
            <a:t>, but not dramatically.</a:t>
          </a:r>
        </a:p>
      </dsp:txBody>
      <dsp:txXfrm>
        <a:off x="2200945" y="358002"/>
        <a:ext cx="1104801" cy="1104801"/>
      </dsp:txXfrm>
    </dsp:sp>
    <dsp:sp modelId="{0677FC28-1B41-C442-97A4-506045DD7C57}">
      <dsp:nvSpPr>
        <dsp:cNvPr id="0" name=""/>
        <dsp:cNvSpPr/>
      </dsp:nvSpPr>
      <dsp:spPr>
        <a:xfrm>
          <a:off x="822663" y="1616750"/>
          <a:ext cx="1224335" cy="12243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Category</a:t>
          </a:r>
          <a:r>
            <a:rPr lang="en-US" sz="1100" kern="1200" dirty="0"/>
            <a:t>, not age, drives price differences. Shoes remain the most expensive.</a:t>
          </a:r>
        </a:p>
      </dsp:txBody>
      <dsp:txXfrm>
        <a:off x="882430" y="1676517"/>
        <a:ext cx="1104801" cy="1104801"/>
      </dsp:txXfrm>
    </dsp:sp>
    <dsp:sp modelId="{CD78F787-EF84-0E48-B178-715D618AFD22}">
      <dsp:nvSpPr>
        <dsp:cNvPr id="0" name=""/>
        <dsp:cNvSpPr/>
      </dsp:nvSpPr>
      <dsp:spPr>
        <a:xfrm>
          <a:off x="2141178" y="1616750"/>
          <a:ext cx="1224335" cy="12243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Fashion pricing appears </a:t>
          </a:r>
          <a:r>
            <a:rPr lang="en-US" sz="1100" b="1" kern="1200"/>
            <a:t>demographically inclusive</a:t>
          </a:r>
          <a:r>
            <a:rPr lang="en-US" sz="1100" kern="1200"/>
            <a:t> across the customer base.</a:t>
          </a:r>
        </a:p>
      </dsp:txBody>
      <dsp:txXfrm>
        <a:off x="2200945" y="1676517"/>
        <a:ext cx="1104801" cy="1104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0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8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1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8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0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64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9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4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28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48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3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97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36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67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923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DAD307-6098-F8D2-6C66-F5803F7882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6644" r="835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964267"/>
            <a:ext cx="5398294" cy="242146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halkduster" panose="03050602040202020205" pitchFamily="66" charset="77"/>
                <a:ea typeface="Brush Script MT" panose="03060802040406070304" pitchFamily="66" charset="-122"/>
                <a:cs typeface="Brush Script MT" panose="03060802040406070304" pitchFamily="66" charset="-122"/>
              </a:rPr>
              <a:t>Understanding Customer Fashion Behavior at H&amp;M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4385732"/>
            <a:ext cx="5398294" cy="1405467"/>
          </a:xfrm>
        </p:spPr>
        <p:txBody>
          <a:bodyPr>
            <a:normAutofit/>
          </a:bodyPr>
          <a:lstStyle/>
          <a:p>
            <a:r>
              <a:rPr lang="en-US" dirty="0">
                <a:latin typeface="Chalkduster" panose="03050602040202020205" pitchFamily="66" charset="77"/>
              </a:rPr>
              <a:t>Sirra Danso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1" y="333039"/>
            <a:ext cx="7772400" cy="14562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halkduster" panose="03050602040202020205" pitchFamily="66" charset="77"/>
              </a:rPr>
              <a:t>Do different age groups shop differently or is fashion taste more universal than we think?</a:t>
            </a:r>
            <a:endParaRPr dirty="0">
              <a:latin typeface="Chalkduster" panose="03050602040202020205" pitchFamily="66" charset="77"/>
            </a:endParaRPr>
          </a:p>
        </p:txBody>
      </p:sp>
      <p:pic>
        <p:nvPicPr>
          <p:cNvPr id="3" name="Picture 2" descr="Analysis1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059698"/>
            <a:ext cx="4114800" cy="2465263"/>
          </a:xfrm>
          <a:prstGeom prst="rect">
            <a:avLst/>
          </a:prstGeom>
        </p:spPr>
      </p:pic>
      <p:pic>
        <p:nvPicPr>
          <p:cNvPr id="4" name="Picture 3" descr="Analysis1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28414"/>
            <a:ext cx="4114800" cy="21397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C0E17A-DD1E-EE48-E8C1-56749CBCF6C8}"/>
              </a:ext>
            </a:extLst>
          </p:cNvPr>
          <p:cNvSpPr txBox="1"/>
          <p:nvPr/>
        </p:nvSpPr>
        <p:spPr>
          <a:xfrm>
            <a:off x="274320" y="2144890"/>
            <a:ext cx="33829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dirty="0"/>
              <a:t>What I Analyzed:</a:t>
            </a:r>
          </a:p>
          <a:p>
            <a:r>
              <a:rPr lang="en-US" i="1" dirty="0"/>
              <a:t>Age × Product Category Purchases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7D235A59-4F81-E65F-DA0A-1862FF0DD5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2549103"/>
              </p:ext>
            </p:extLst>
          </p:nvPr>
        </p:nvGraphicFramePr>
        <p:xfrm>
          <a:off x="91287" y="3068220"/>
          <a:ext cx="4114801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09" y="88910"/>
            <a:ext cx="7772400" cy="14562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halkduster" panose="03050602040202020205" pitchFamily="66" charset="77"/>
              </a:rPr>
              <a:t>Does age change how much customers are willing to pay for fashion?</a:t>
            </a:r>
            <a:endParaRPr dirty="0">
              <a:latin typeface="Chalkduster" panose="03050602040202020205" pitchFamily="66" charset="77"/>
            </a:endParaRPr>
          </a:p>
        </p:txBody>
      </p:sp>
      <p:pic>
        <p:nvPicPr>
          <p:cNvPr id="3" name="Picture 2" descr="Analysis2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049" y="4211483"/>
            <a:ext cx="4389120" cy="2420078"/>
          </a:xfrm>
          <a:prstGeom prst="rect">
            <a:avLst/>
          </a:prstGeom>
        </p:spPr>
      </p:pic>
      <p:pic>
        <p:nvPicPr>
          <p:cNvPr id="4" name="Picture 3" descr="Analysis2h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45177"/>
            <a:ext cx="4160169" cy="2420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6B7E5B-6017-FDB2-CC3C-D001FD3542EB}"/>
              </a:ext>
            </a:extLst>
          </p:cNvPr>
          <p:cNvSpPr txBox="1"/>
          <p:nvPr/>
        </p:nvSpPr>
        <p:spPr>
          <a:xfrm>
            <a:off x="194732" y="1636300"/>
            <a:ext cx="4509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What I Analyzed:</a:t>
            </a:r>
          </a:p>
          <a:p>
            <a:r>
              <a:rPr lang="en-US" i="1" dirty="0"/>
              <a:t>Price distributions + category-level averages by age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10" name="TextBox 4">
            <a:extLst>
              <a:ext uri="{FF2B5EF4-FFF2-40B4-BE49-F238E27FC236}">
                <a16:creationId xmlns:a16="http://schemas.microsoft.com/office/drawing/2014/main" id="{168009FF-11DC-459A-E4CB-E09C31F1A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3740909"/>
              </p:ext>
            </p:extLst>
          </p:nvPr>
        </p:nvGraphicFramePr>
        <p:xfrm>
          <a:off x="194732" y="2755216"/>
          <a:ext cx="4188177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88544"/>
            <a:ext cx="7772400" cy="14562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halkduster" panose="03050602040202020205" pitchFamily="66" charset="77"/>
              </a:rPr>
              <a:t>Which product categories keep customers coming back and why?</a:t>
            </a:r>
            <a:endParaRPr dirty="0">
              <a:latin typeface="Chalkduster" panose="03050602040202020205" pitchFamily="66" charset="77"/>
            </a:endParaRPr>
          </a:p>
        </p:txBody>
      </p:sp>
      <p:pic>
        <p:nvPicPr>
          <p:cNvPr id="3" name="Picture 2" descr="analysis3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459917"/>
            <a:ext cx="4389120" cy="2022529"/>
          </a:xfrm>
          <a:prstGeom prst="rect">
            <a:avLst/>
          </a:prstGeom>
        </p:spPr>
      </p:pic>
      <p:pic>
        <p:nvPicPr>
          <p:cNvPr id="4" name="Picture 3" descr="analysis3h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84743"/>
            <a:ext cx="4389120" cy="2508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B95744-B694-CC88-B549-CC0E7680D3A3}"/>
              </a:ext>
            </a:extLst>
          </p:cNvPr>
          <p:cNvSpPr txBox="1"/>
          <p:nvPr/>
        </p:nvSpPr>
        <p:spPr>
          <a:xfrm>
            <a:off x="0" y="2945140"/>
            <a:ext cx="46510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Upper-body garments generate the highest repeat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Swimwear shows surprisingly high repeat behavior, indicating multiple seasonal purchases.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Shoes and Accessories show the lowest loyalty, suggest more one-off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Ages </a:t>
            </a:r>
            <a:r>
              <a:rPr lang="en-US" b="1" dirty="0"/>
              <a:t>20–39</a:t>
            </a:r>
            <a:r>
              <a:rPr lang="en-US" dirty="0"/>
              <a:t> show the highest overall repeat engagement across categories.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19ABE5-95AF-8482-60EA-DFB5E0B38C4D}"/>
              </a:ext>
            </a:extLst>
          </p:cNvPr>
          <p:cNvSpPr txBox="1"/>
          <p:nvPr/>
        </p:nvSpPr>
        <p:spPr>
          <a:xfrm>
            <a:off x="182880" y="1993157"/>
            <a:ext cx="40741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dirty="0"/>
              <a:t>What I Analyzed:</a:t>
            </a:r>
          </a:p>
          <a:p>
            <a:r>
              <a:rPr lang="en-US" i="1" dirty="0"/>
              <a:t>Category repeat rate + repeat rate by age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045" y="171239"/>
            <a:ext cx="7772400" cy="14562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halkduster" panose="03050602040202020205" pitchFamily="66" charset="77"/>
              </a:rPr>
              <a:t>Do different age groups express style differently through color?</a:t>
            </a:r>
            <a:endParaRPr dirty="0">
              <a:latin typeface="Chalkduster" panose="03050602040202020205" pitchFamily="66" charset="77"/>
            </a:endParaRPr>
          </a:p>
        </p:txBody>
      </p:sp>
      <p:pic>
        <p:nvPicPr>
          <p:cNvPr id="3" name="Picture 2" descr="analysis4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44" y="3738541"/>
            <a:ext cx="3051387" cy="2720956"/>
          </a:xfrm>
          <a:prstGeom prst="rect">
            <a:avLst/>
          </a:prstGeom>
        </p:spPr>
      </p:pic>
      <p:pic>
        <p:nvPicPr>
          <p:cNvPr id="4" name="Picture 3" descr="analysis4st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789" y="1398612"/>
            <a:ext cx="4114800" cy="2030388"/>
          </a:xfrm>
          <a:prstGeom prst="rect">
            <a:avLst/>
          </a:prstGeom>
        </p:spPr>
      </p:pic>
      <p:pic>
        <p:nvPicPr>
          <p:cNvPr id="5" name="Picture 4" descr="analysis4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994" y="4732620"/>
            <a:ext cx="2857808" cy="1954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BD1850-D677-8160-EF1C-B3E06000FA4A}"/>
              </a:ext>
            </a:extLst>
          </p:cNvPr>
          <p:cNvSpPr txBox="1"/>
          <p:nvPr/>
        </p:nvSpPr>
        <p:spPr>
          <a:xfrm>
            <a:off x="139469" y="2445879"/>
            <a:ext cx="42897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Black dominates nearly half of all purchases  the core of modern fashion.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White and neutral tones make up the second major palette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Color preferences are consistent across all age groups, showing shared taste.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Younger shoppers display slightly more color variation, but neutrals still win.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E2488-4E81-0526-4715-CD26BFDB88DB}"/>
              </a:ext>
            </a:extLst>
          </p:cNvPr>
          <p:cNvSpPr txBox="1"/>
          <p:nvPr/>
        </p:nvSpPr>
        <p:spPr>
          <a:xfrm>
            <a:off x="213411" y="1627506"/>
            <a:ext cx="42158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dirty="0"/>
              <a:t>What I Analyzed:</a:t>
            </a:r>
          </a:p>
          <a:p>
            <a:r>
              <a:rPr lang="en-US" i="1" dirty="0"/>
              <a:t>Top colors overall + color preference by age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latin typeface="Chalkduster" panose="03050602040202020205" pitchFamily="66" charset="77"/>
              </a:rPr>
              <a:t>What does all this tell us about fashion shoppers and where can we go from here?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Age shapes </a:t>
            </a:r>
            <a:r>
              <a:rPr lang="en-US" sz="1400" b="1" dirty="0"/>
              <a:t>what</a:t>
            </a:r>
            <a:r>
              <a:rPr lang="en-US" sz="1400" dirty="0"/>
              <a:t> customers buy, not </a:t>
            </a:r>
            <a:r>
              <a:rPr lang="en-US" sz="1400" b="1" dirty="0"/>
              <a:t>how much</a:t>
            </a:r>
            <a:r>
              <a:rPr lang="en-US" sz="1400" dirty="0"/>
              <a:t> they spend.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Core apparel categories drive </a:t>
            </a:r>
            <a:r>
              <a:rPr lang="en-US" sz="1400" b="1" dirty="0"/>
              <a:t>reliable, repeat purchasing</a:t>
            </a:r>
            <a:r>
              <a:rPr lang="en-US" sz="14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Color preference is </a:t>
            </a:r>
            <a:r>
              <a:rPr lang="en-US" sz="1400" b="1" dirty="0"/>
              <a:t>nearly universal</a:t>
            </a:r>
            <a:r>
              <a:rPr lang="en-US" sz="1400" dirty="0"/>
              <a:t>, dominated by neutrals.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H&amp;M's assortment and pricing appear </a:t>
            </a:r>
            <a:r>
              <a:rPr lang="en-US" sz="1400" b="1" dirty="0"/>
              <a:t>aligned with broad customer behavior.</a:t>
            </a:r>
            <a:endParaRPr lang="en-US" sz="1400" dirty="0"/>
          </a:p>
          <a:p>
            <a:pPr>
              <a:lnSpc>
                <a:spcPct val="90000"/>
              </a:lnSpc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Next Steps: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Explore seasonal patterns.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Build customer segments.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Analyze basket size.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766</TotalTime>
  <Words>373</Words>
  <Application>Microsoft Macintosh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Chalkduster</vt:lpstr>
      <vt:lpstr>Celestial</vt:lpstr>
      <vt:lpstr>Understanding Customer Fashion Behavior at H&amp;M</vt:lpstr>
      <vt:lpstr>Do different age groups shop differently or is fashion taste more universal than we think?</vt:lpstr>
      <vt:lpstr>Does age change how much customers are willing to pay for fashion?</vt:lpstr>
      <vt:lpstr>Which product categories keep customers coming back and why?</vt:lpstr>
      <vt:lpstr>Do different age groups express style differently through color?</vt:lpstr>
      <vt:lpstr>What does all this tell us about fashion shoppers and where can we go from here?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Sirra.Danso</cp:lastModifiedBy>
  <cp:revision>2</cp:revision>
  <dcterms:created xsi:type="dcterms:W3CDTF">2013-01-27T09:14:16Z</dcterms:created>
  <dcterms:modified xsi:type="dcterms:W3CDTF">2026-02-17T19:35:45Z</dcterms:modified>
  <cp:category/>
</cp:coreProperties>
</file>